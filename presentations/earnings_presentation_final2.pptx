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FD3EA"/>
    <a:srgbClr val="EEC1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3276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176" y="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38897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EC1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49548"/>
            <a:ext cx="8046720" cy="26444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40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Stock Returns from Earnings Call Transcripts</a:t>
            </a:r>
            <a:endParaRPr lang="en-US" sz="4000" b="1" dirty="0">
              <a:solidFill>
                <a:srgbClr val="002060"/>
              </a:solidFill>
            </a:endParaRPr>
          </a:p>
          <a:p>
            <a:pPr marL="0" indent="0" algn="ctr">
              <a:buNone/>
            </a:pPr>
            <a:endParaRPr lang="en-US" sz="4000" b="1" dirty="0">
              <a:solidFill>
                <a:srgbClr val="002060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1777299" y="4550716"/>
            <a:ext cx="5589401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Shannon Maccallum | DSCI 410</a:t>
            </a:r>
            <a:endParaRPr lang="en-US" sz="28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7"/>
            <a:ext cx="8229600" cy="45719"/>
          </a:xfrm>
          <a:prstGeom prst="rect">
            <a:avLst/>
          </a:prstGeom>
          <a:solidFill>
            <a:srgbClr val="EEC1D7"/>
          </a:solidFill>
          <a:ln w="12700">
            <a:solidFill>
              <a:srgbClr val="F0B4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93192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00584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389888"/>
            <a:ext cx="35661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prices react immediately to earnings calls — but can we predict that reaction before the market fully prices it in?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Executives choose their words carefully. Their tone, emphasis, and language around guidance, growth, and risk all carry signals — but those signals are buried in unstructured text. I wanted to see if these sentiments can be used to predict a stocks return.  This would allow for systematic trading based off of earning call transcripts.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393192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37760" y="100584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Interests Me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389888"/>
            <a:ext cx="35661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reflects human behavior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Markets move on expectations, confidence, and fear, </a:t>
            </a:r>
            <a:r>
              <a:rPr lang="en-US" sz="13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andnot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just numbers. I want to quantify that human layer.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Longer-term vision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live interface that ingests transcripts in real time and generates trading signals as calls happen — eventually turn this into a company.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931920" y="676656"/>
            <a:ext cx="1280160" cy="27432"/>
          </a:xfrm>
          <a:prstGeom prst="rect">
            <a:avLst/>
          </a:prstGeom>
          <a:solidFill>
            <a:srgbClr val="EEC1D7"/>
          </a:solidFill>
          <a:ln w="12700">
            <a:noFill/>
            <a:prstDash val="solid"/>
          </a:ln>
        </p:spPr>
        <p:txBody>
          <a:bodyPr/>
          <a:lstStyle/>
          <a:p>
            <a:endParaRPr lang="en-US" dirty="0">
              <a:highlight>
                <a:srgbClr val="EEC1D7"/>
              </a:highlight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23774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033272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148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8191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Earnings call transcripts</a:t>
            </a:r>
            <a:endParaRPr lang="en-US" sz="1600" dirty="0">
              <a:solidFill>
                <a:srgbClr val="002060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3383280" y="960120"/>
            <a:ext cx="23774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383280" y="1033272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383280" y="158191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S&amp;P 500 companies</a:t>
            </a:r>
            <a:endParaRPr lang="en-US" sz="1600" dirty="0">
              <a:solidFill>
                <a:srgbClr val="002060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309360" y="960120"/>
            <a:ext cx="23774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309360" y="1033272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2022–2024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309360" y="158191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range</a:t>
            </a:r>
            <a:endParaRPr lang="en-US" sz="1600" dirty="0">
              <a:solidFill>
                <a:srgbClr val="002060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57200" y="2194560"/>
            <a:ext cx="393192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sz="2000"/>
          </a:p>
        </p:txBody>
      </p:sp>
      <p:sp>
        <p:nvSpPr>
          <p:cNvPr id="18" name="Text 16"/>
          <p:cNvSpPr/>
          <p:nvPr/>
        </p:nvSpPr>
        <p:spPr>
          <a:xfrm>
            <a:off x="640080" y="22860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Transcripts — Alpha Vantage API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57200" y="2651760"/>
            <a:ext cx="39319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Fetched from Alpha Vantage API, cached locally as JSON for each daily rate limits (25/day free)
</a:t>
            </a:r>
            <a:r>
              <a:rPr lang="en-US" sz="13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Sectors: </a:t>
            </a:r>
            <a:r>
              <a:rPr lang="en-US" sz="13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Tech, Finance, Healthcare, Consumer, Energy
</a:t>
            </a:r>
            <a:r>
              <a:rPr lang="en-US" sz="13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</a:t>
            </a:r>
            <a:r>
              <a:rPr lang="en-US" sz="1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Accidentally saved 75 empty API error responses before adding a validity check and lost several days of collection. Ended up with 148 clean transcripts. Also, I should have started pulling data way earlier.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54880" y="2194560"/>
            <a:ext cx="393192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937760" y="2252104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— Yahoo Finance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769597" y="2669680"/>
            <a:ext cx="39319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3-day post-earnings return matched to each transcript: 
</a:t>
            </a:r>
            <a:r>
              <a:rPr lang="en-US" sz="13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variable: </a:t>
            </a:r>
            <a:r>
              <a:rPr lang="en-US" sz="13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change in closing price from earnings day to 3 trading days later</a:t>
            </a:r>
          </a:p>
          <a:p>
            <a:pPr marL="0" indent="0">
              <a:buNone/>
            </a:pPr>
            <a:endParaRPr lang="en-US" sz="1300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Wish I had more: </a:t>
            </a:r>
            <a:endParaRPr lang="en-US" sz="1300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to scrape SEC EDGAR this summer to get thousands of transcripts and retrain.</a:t>
            </a:r>
            <a:endParaRPr lang="en-US" sz="13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7392" y="-9907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206748" y="844183"/>
            <a:ext cx="1334749" cy="64008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517477" y="944270"/>
            <a:ext cx="764627" cy="495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613133" y="1195675"/>
            <a:ext cx="205741" cy="0"/>
          </a:xfrm>
          <a:prstGeom prst="line">
            <a:avLst/>
          </a:prstGeom>
          <a:noFill/>
          <a:ln w="1905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679146" y="844183"/>
            <a:ext cx="1334749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043926" y="1002867"/>
            <a:ext cx="742556" cy="382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FinBERT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008971" y="1195675"/>
            <a:ext cx="390397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139972" y="850010"/>
            <a:ext cx="1238581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204169" y="968012"/>
            <a:ext cx="1020817" cy="382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FinBERT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394960" y="1195675"/>
            <a:ext cx="4114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530150" y="852479"/>
            <a:ext cx="132588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831270" y="975520"/>
            <a:ext cx="727579" cy="3982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768→1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32775" y="1195675"/>
            <a:ext cx="802465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991220" y="839284"/>
            <a:ext cx="1325880" cy="640080"/>
          </a:xfrm>
          <a:prstGeom prst="rect">
            <a:avLst/>
          </a:prstGeom>
          <a:solidFill>
            <a:srgbClr val="EEC1D7"/>
          </a:solidFill>
          <a:ln w="12700">
            <a:noFill/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175576" y="1057127"/>
            <a:ext cx="900211" cy="225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40027" y="189250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 on Finance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74548" y="2212548"/>
            <a:ext cx="2377440" cy="8182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FinBERT</a:t>
            </a:r>
            <a:r>
              <a:rPr lang="en-US" sz="16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BERT fine-tuned on 4.9B tokens of financial text so that it understands earnings language.</a:t>
            </a:r>
            <a:endParaRPr lang="en-US" sz="1600" dirty="0">
              <a:solidFill>
                <a:srgbClr val="002060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4011536" y="230649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043926" y="2466512"/>
            <a:ext cx="2768495" cy="264787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2060"/>
                </a:solidFill>
                <a:effectLst/>
              </a:rPr>
              <a:t>FinBERT's original output classifies text as positive, negative, or neutral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2060"/>
                </a:solidFill>
              </a:rPr>
              <a:t>T</a:t>
            </a:r>
            <a:r>
              <a:rPr lang="en-US" sz="1600" dirty="0">
                <a:solidFill>
                  <a:srgbClr val="002060"/>
                </a:solidFill>
                <a:effectLst/>
              </a:rPr>
              <a:t>ak</a:t>
            </a:r>
            <a:r>
              <a:rPr lang="en-US" sz="1600" dirty="0">
                <a:solidFill>
                  <a:srgbClr val="002060"/>
                </a:solidFill>
              </a:rPr>
              <a:t>e the </a:t>
            </a:r>
            <a:r>
              <a:rPr lang="en-US" sz="1600" dirty="0">
                <a:solidFill>
                  <a:srgbClr val="002060"/>
                </a:solidFill>
                <a:effectLst/>
              </a:rPr>
              <a:t>768 dimensional vector it builds for each transcript </a:t>
            </a:r>
            <a:endParaRPr lang="en-US" sz="1600" dirty="0">
              <a:solidFill>
                <a:srgbClr val="00206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2060"/>
                </a:solidFill>
                <a:effectLst/>
              </a:rPr>
              <a:t>feed that into a single linear layer that predicts a continuous return percentage</a:t>
            </a:r>
          </a:p>
        </p:txBody>
      </p:sp>
      <p:sp>
        <p:nvSpPr>
          <p:cNvPr id="28" name="Text 26"/>
          <p:cNvSpPr/>
          <p:nvPr/>
        </p:nvSpPr>
        <p:spPr>
          <a:xfrm>
            <a:off x="6668884" y="1892508"/>
            <a:ext cx="162971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Setup</a:t>
            </a: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953206" y="2164290"/>
            <a:ext cx="2985314" cy="288020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split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2060"/>
                </a:solidFill>
                <a:latin typeface="Calibri" pitchFamily="34" charset="0"/>
                <a:cs typeface="Calibri" pitchFamily="34" charset="-120"/>
              </a:rPr>
              <a:t>Gradient clipping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2060"/>
                </a:solidFill>
                <a:latin typeface="Calibri" pitchFamily="34" charset="0"/>
                <a:cs typeface="Calibri" pitchFamily="34" charset="-120"/>
              </a:rPr>
              <a:t>GPU on Talapas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2060"/>
                </a:solidFill>
                <a:latin typeface="Calibri" pitchFamily="34" charset="0"/>
                <a:cs typeface="Calibri" pitchFamily="34" charset="-120"/>
              </a:rPr>
              <a:t>Data pulled outside of </a:t>
            </a:r>
            <a:r>
              <a:rPr lang="en-US" sz="1600" dirty="0" err="1">
                <a:solidFill>
                  <a:srgbClr val="002060"/>
                </a:solidFill>
                <a:latin typeface="Calibri" pitchFamily="34" charset="0"/>
                <a:cs typeface="Calibri" pitchFamily="34" charset="-120"/>
              </a:rPr>
              <a:t>Talpas</a:t>
            </a:r>
            <a:endParaRPr lang="en-US" sz="1600" dirty="0">
              <a:solidFill>
                <a:srgbClr val="002060"/>
              </a:solidFill>
              <a:latin typeface="Calibri" pitchFamily="34" charset="0"/>
              <a:cs typeface="Calibr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002060"/>
                </a:solidFill>
                <a:latin typeface="Calibri" pitchFamily="34" charset="0"/>
                <a:cs typeface="Calibri" pitchFamily="34" charset="-120"/>
              </a:rPr>
              <a:t>AdamW</a:t>
            </a:r>
            <a:r>
              <a:rPr lang="en-US" sz="1600" dirty="0">
                <a:solidFill>
                  <a:srgbClr val="002060"/>
                </a:solidFill>
                <a:latin typeface="Calibri" pitchFamily="34" charset="0"/>
                <a:cs typeface="Calibri" pitchFamily="34" charset="-120"/>
              </a:rPr>
              <a:t> optimizer — adjusts how much each of the model's 110M parameters updates after every batch, with weight decay to prevent overfitting on our small dataset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2060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C96586D-1150-A036-C5F9-1C948F4FF564}"/>
              </a:ext>
            </a:extLst>
          </p:cNvPr>
          <p:cNvSpPr txBox="1"/>
          <p:nvPr/>
        </p:nvSpPr>
        <p:spPr>
          <a:xfrm>
            <a:off x="3338293" y="1867407"/>
            <a:ext cx="42394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1E2761"/>
                </a:solidFill>
                <a:latin typeface="Calibri" pitchFamily="34" charset="0"/>
                <a:cs typeface="Calibri" pitchFamily="34" charset="-120"/>
              </a:rPr>
              <a:t>Sentiment output -&gt; </a:t>
            </a:r>
          </a:p>
          <a:p>
            <a:r>
              <a:rPr lang="en-US" b="1" dirty="0">
                <a:solidFill>
                  <a:srgbClr val="1E2761"/>
                </a:solidFill>
                <a:latin typeface="Calibri" pitchFamily="34" charset="0"/>
                <a:cs typeface="Calibri" pitchFamily="34" charset="-120"/>
              </a:rPr>
              <a:t>Return Predictor</a:t>
            </a:r>
          </a:p>
          <a:p>
            <a:endParaRPr lang="en-US" dirty="0"/>
          </a:p>
        </p:txBody>
      </p:sp>
      <p:sp>
        <p:nvSpPr>
          <p:cNvPr id="31" name="Shape 21">
            <a:extLst>
              <a:ext uri="{FF2B5EF4-FFF2-40B4-BE49-F238E27FC236}">
                <a16:creationId xmlns:a16="http://schemas.microsoft.com/office/drawing/2014/main" id="{36633BA8-5DF3-534F-59F4-E9023E978BDB}"/>
              </a:ext>
            </a:extLst>
          </p:cNvPr>
          <p:cNvSpPr/>
          <p:nvPr/>
        </p:nvSpPr>
        <p:spPr>
          <a:xfrm flipV="1">
            <a:off x="2717383" y="466124"/>
            <a:ext cx="3575304" cy="27432"/>
          </a:xfrm>
          <a:prstGeom prst="rect">
            <a:avLst/>
          </a:prstGeom>
          <a:solidFill>
            <a:srgbClr val="EEC1D7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2">
            <a:extLst>
              <a:ext uri="{FF2B5EF4-FFF2-40B4-BE49-F238E27FC236}">
                <a16:creationId xmlns:a16="http://schemas.microsoft.com/office/drawing/2014/main" id="{37302A4C-BFD9-68B8-3297-61DE22AFE39F}"/>
              </a:ext>
            </a:extLst>
          </p:cNvPr>
          <p:cNvSpPr/>
          <p:nvPr/>
        </p:nvSpPr>
        <p:spPr>
          <a:xfrm>
            <a:off x="172064" y="2725030"/>
            <a:ext cx="5130706" cy="2118072"/>
          </a:xfrm>
          <a:prstGeom prst="rect">
            <a:avLst/>
          </a:prstGeom>
          <a:solidFill>
            <a:srgbClr val="FFFFFF"/>
          </a:solidFill>
          <a:ln w="19050">
            <a:solidFill>
              <a:srgbClr val="00B05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" name="Text 0"/>
          <p:cNvSpPr/>
          <p:nvPr/>
        </p:nvSpPr>
        <p:spPr>
          <a:xfrm>
            <a:off x="457200" y="-1238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Challenges &amp; Breakthrough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72064" y="874139"/>
            <a:ext cx="5130706" cy="1683119"/>
          </a:xfrm>
          <a:prstGeom prst="rect">
            <a:avLst/>
          </a:prstGeom>
          <a:solidFill>
            <a:srgbClr val="FFFFFF"/>
          </a:solidFill>
          <a:ln w="19050">
            <a:solidFill>
              <a:srgbClr val="FF000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dirty="0">
              <a:highlight>
                <a:srgbClr val="FF0000"/>
              </a:highlight>
            </a:endParaRPr>
          </a:p>
        </p:txBody>
      </p:sp>
      <p:sp>
        <p:nvSpPr>
          <p:cNvPr id="6" name="Text 4"/>
          <p:cNvSpPr/>
          <p:nvPr/>
        </p:nvSpPr>
        <p:spPr>
          <a:xfrm>
            <a:off x="1375054" y="874139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281978" y="1188982"/>
            <a:ext cx="5020792" cy="13682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fine-tuning wasn't working because of the small data set: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epochs (10) + low lr (1e-5): </a:t>
            </a:r>
            <a:r>
              <a:rPr lang="en-US" sz="14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loss kept dropping but validation RMSE showed the model was overfitting so much.
</a:t>
            </a:r>
            <a:r>
              <a:rPr lang="en-US" sz="1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epochs (5) + standard lr (2e-5): </a:t>
            </a:r>
            <a:r>
              <a:rPr lang="en-US" sz="14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~5.9%, directional accuracy only 34%, bias of -2.31% , so model predicted near-zero for every stock</a:t>
            </a:r>
            <a:endParaRPr lang="en-US" sz="1400" dirty="0">
              <a:solidFill>
                <a:srgbClr val="002060"/>
              </a:solidFill>
            </a:endParaRPr>
          </a:p>
        </p:txBody>
      </p:sp>
      <p:sp>
        <p:nvSpPr>
          <p:cNvPr id="10" name="Text 7"/>
          <p:cNvSpPr/>
          <p:nvPr/>
        </p:nvSpPr>
        <p:spPr>
          <a:xfrm>
            <a:off x="1691860" y="272312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Gradual Unfreezing</a:t>
            </a:r>
            <a:endParaRPr lang="en-US" sz="2000" dirty="0">
              <a:solidFill>
                <a:srgbClr val="00B05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881F5B6-2FA3-832A-2F7A-687007675951}"/>
              </a:ext>
            </a:extLst>
          </p:cNvPr>
          <p:cNvSpPr txBox="1"/>
          <p:nvPr/>
        </p:nvSpPr>
        <p:spPr>
          <a:xfrm>
            <a:off x="186672" y="2945684"/>
            <a:ext cx="5201405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2060"/>
                </a:solidFill>
              </a:rPr>
              <a:t>Gradual unfreezing addresses “catastrophic forgetting” which is the risk that fine tuning on a small dataset overwrites FinBERT's pretrained financial language knowledge. My model was the best at epoch one so this was able to fix that</a:t>
            </a:r>
          </a:p>
          <a:p>
            <a:endParaRPr lang="en-US" sz="1200" b="1" dirty="0">
              <a:solidFill>
                <a:srgbClr val="002060"/>
              </a:solidFill>
            </a:endParaRPr>
          </a:p>
          <a:p>
            <a:r>
              <a:rPr lang="en-US" sz="1200" b="1" dirty="0">
                <a:solidFill>
                  <a:srgbClr val="002060"/>
                </a:solidFill>
              </a:rPr>
              <a:t>Phase 1:</a:t>
            </a:r>
            <a:r>
              <a:rPr lang="en-US" sz="1200" dirty="0">
                <a:solidFill>
                  <a:srgbClr val="002060"/>
                </a:solidFill>
              </a:rPr>
              <a:t> Freeze </a:t>
            </a:r>
            <a:r>
              <a:rPr lang="en-US" sz="1200" dirty="0" err="1">
                <a:solidFill>
                  <a:srgbClr val="002060"/>
                </a:solidFill>
              </a:rPr>
              <a:t>FinBERT</a:t>
            </a:r>
            <a:r>
              <a:rPr lang="en-US" sz="1200" dirty="0">
                <a:solidFill>
                  <a:srgbClr val="002060"/>
                </a:solidFill>
              </a:rPr>
              <a:t> entirely, train only the new prediction layer at a high learning rate — forces the model to learn how to read FinBERT's existing financial language representations without overwriting them.</a:t>
            </a:r>
          </a:p>
          <a:p>
            <a:r>
              <a:rPr lang="en-US" sz="1200" b="1" dirty="0">
                <a:solidFill>
                  <a:srgbClr val="002060"/>
                </a:solidFill>
              </a:rPr>
              <a:t>Phase 2:</a:t>
            </a:r>
            <a:r>
              <a:rPr lang="en-US" sz="1200" dirty="0">
                <a:solidFill>
                  <a:srgbClr val="002060"/>
                </a:solidFill>
              </a:rPr>
              <a:t> Unfreeze everything and fine-tune at a very low learning rate — </a:t>
            </a:r>
            <a:r>
              <a:rPr lang="en-US" sz="1200" dirty="0" err="1">
                <a:solidFill>
                  <a:srgbClr val="002060"/>
                </a:solidFill>
              </a:rPr>
              <a:t>FinBERT</a:t>
            </a:r>
            <a:r>
              <a:rPr lang="en-US" sz="1200" dirty="0">
                <a:solidFill>
                  <a:srgbClr val="002060"/>
                </a:solidFill>
              </a:rPr>
              <a:t> makes small targeted adjustments to its representations for our specific task rather than relearning from scratch.</a:t>
            </a:r>
          </a:p>
          <a:p>
            <a:endParaRPr lang="en-US" sz="1100" dirty="0"/>
          </a:p>
        </p:txBody>
      </p:sp>
      <p:sp>
        <p:nvSpPr>
          <p:cNvPr id="18" name="AutoShape 2">
            <a:extLst>
              <a:ext uri="{FF2B5EF4-FFF2-40B4-BE49-F238E27FC236}">
                <a16:creationId xmlns:a16="http://schemas.microsoft.com/office/drawing/2014/main" id="{14BE3F60-4D5E-D15C-2FAE-CFA2097ECC9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" name="Picture 19" descr="A graph with red line&#10;&#10;AI-generated content may be incorrect.">
            <a:extLst>
              <a:ext uri="{FF2B5EF4-FFF2-40B4-BE49-F238E27FC236}">
                <a16:creationId xmlns:a16="http://schemas.microsoft.com/office/drawing/2014/main" id="{659916C7-1497-40A0-DFF0-36FF21098C6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7370" t="11602" b="-503"/>
          <a:stretch/>
        </p:blipFill>
        <p:spPr>
          <a:xfrm>
            <a:off x="7368640" y="887149"/>
            <a:ext cx="1762119" cy="1241603"/>
          </a:xfrm>
          <a:prstGeom prst="rect">
            <a:avLst/>
          </a:prstGeom>
        </p:spPr>
      </p:pic>
      <p:pic>
        <p:nvPicPr>
          <p:cNvPr id="21" name="Picture 20" descr="A graph with red line&#10;&#10;AI-generated content may be incorrect.">
            <a:extLst>
              <a:ext uri="{FF2B5EF4-FFF2-40B4-BE49-F238E27FC236}">
                <a16:creationId xmlns:a16="http://schemas.microsoft.com/office/drawing/2014/main" id="{1E77CE12-3811-B769-0B44-2FDB6CA3C46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007" t="9409" r="32643" b="-204"/>
          <a:stretch/>
        </p:blipFill>
        <p:spPr>
          <a:xfrm>
            <a:off x="7329037" y="2274472"/>
            <a:ext cx="1811798" cy="1238534"/>
          </a:xfrm>
          <a:prstGeom prst="rect">
            <a:avLst/>
          </a:prstGeom>
        </p:spPr>
      </p:pic>
      <p:pic>
        <p:nvPicPr>
          <p:cNvPr id="22" name="Picture 21" descr="A graph with red line&#10;&#10;AI-generated content may be incorrect.">
            <a:extLst>
              <a:ext uri="{FF2B5EF4-FFF2-40B4-BE49-F238E27FC236}">
                <a16:creationId xmlns:a16="http://schemas.microsoft.com/office/drawing/2014/main" id="{315A5C1F-EA2D-778B-DBC3-1735A8023D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725" r="66360" b="-260"/>
          <a:stretch/>
        </p:blipFill>
        <p:spPr>
          <a:xfrm>
            <a:off x="7308886" y="3696825"/>
            <a:ext cx="1821873" cy="1282083"/>
          </a:xfrm>
          <a:prstGeom prst="rect">
            <a:avLst/>
          </a:prstGeom>
        </p:spPr>
      </p:pic>
      <p:pic>
        <p:nvPicPr>
          <p:cNvPr id="24" name="Picture 23" descr="A graph with red lines&#10;&#10;AI-generated content may be incorrect.">
            <a:extLst>
              <a:ext uri="{FF2B5EF4-FFF2-40B4-BE49-F238E27FC236}">
                <a16:creationId xmlns:a16="http://schemas.microsoft.com/office/drawing/2014/main" id="{2F6E70D5-3FDB-9B41-34BE-A136C3C50D5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5854" t="2084" b="2603"/>
          <a:stretch/>
        </p:blipFill>
        <p:spPr>
          <a:xfrm>
            <a:off x="5341141" y="887149"/>
            <a:ext cx="1868846" cy="1238535"/>
          </a:xfrm>
          <a:prstGeom prst="rect">
            <a:avLst/>
          </a:prstGeom>
        </p:spPr>
      </p:pic>
      <p:pic>
        <p:nvPicPr>
          <p:cNvPr id="25" name="Picture 24" descr="A graph with red lines&#10;&#10;AI-generated content may be incorrect.">
            <a:extLst>
              <a:ext uri="{FF2B5EF4-FFF2-40B4-BE49-F238E27FC236}">
                <a16:creationId xmlns:a16="http://schemas.microsoft.com/office/drawing/2014/main" id="{FEF048E1-058A-E681-94B8-639A23A2FB4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2142" t="629" r="33878" b="2968"/>
          <a:stretch/>
        </p:blipFill>
        <p:spPr>
          <a:xfrm>
            <a:off x="5394606" y="2282986"/>
            <a:ext cx="1838745" cy="1238534"/>
          </a:xfrm>
          <a:prstGeom prst="rect">
            <a:avLst/>
          </a:prstGeom>
        </p:spPr>
      </p:pic>
      <p:pic>
        <p:nvPicPr>
          <p:cNvPr id="26" name="Picture 25" descr="A graph with red lines&#10;&#10;AI-generated content may be incorrect.">
            <a:extLst>
              <a:ext uri="{FF2B5EF4-FFF2-40B4-BE49-F238E27FC236}">
                <a16:creationId xmlns:a16="http://schemas.microsoft.com/office/drawing/2014/main" id="{89D280E7-1B77-7352-5102-C7F3D162525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305" r="67394"/>
          <a:stretch/>
        </p:blipFill>
        <p:spPr>
          <a:xfrm>
            <a:off x="5388077" y="3696825"/>
            <a:ext cx="1852386" cy="1331213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9B9CFD47-6B4A-43A4-F56A-3EF76A57BDA5}"/>
              </a:ext>
            </a:extLst>
          </p:cNvPr>
          <p:cNvSpPr txBox="1"/>
          <p:nvPr/>
        </p:nvSpPr>
        <p:spPr>
          <a:xfrm>
            <a:off x="5960305" y="571145"/>
            <a:ext cx="103730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rgbClr val="002060"/>
                </a:solidFill>
                <a:latin typeface="Calibri" pitchFamily="34" charset="0"/>
                <a:cs typeface="Calibri" pitchFamily="34" charset="-120"/>
              </a:rPr>
              <a:t>10 Epochs</a:t>
            </a:r>
            <a:endParaRPr lang="en-US" sz="11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0B7AA48-D3F5-B5B6-B18A-10440BCAA5DD}"/>
              </a:ext>
            </a:extLst>
          </p:cNvPr>
          <p:cNvSpPr txBox="1"/>
          <p:nvPr/>
        </p:nvSpPr>
        <p:spPr>
          <a:xfrm>
            <a:off x="8026175" y="567836"/>
            <a:ext cx="103730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rgbClr val="002060"/>
                </a:solidFill>
                <a:latin typeface="Calibri" pitchFamily="34" charset="0"/>
                <a:cs typeface="Calibri" pitchFamily="34" charset="-120"/>
              </a:rPr>
              <a:t>5 Epochs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After Gradual Unfreezing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3774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200" y="987552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83%</a:t>
            </a:r>
            <a:endParaRPr lang="en-US" sz="3200" dirty="0">
              <a:solidFill>
                <a:srgbClr val="002060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153619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Accuracy at ±0.5%</a:t>
            </a:r>
            <a:endParaRPr lang="en-US" sz="1400" dirty="0">
              <a:solidFill>
                <a:srgbClr val="002060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3383280" y="914400"/>
            <a:ext cx="23774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383280" y="987552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3200" dirty="0">
              <a:solidFill>
                <a:srgbClr val="002060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3383280" y="153619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 Accuracy</a:t>
            </a:r>
            <a:endParaRPr lang="en-US" sz="1400" dirty="0">
              <a:solidFill>
                <a:srgbClr val="002060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309360" y="914400"/>
            <a:ext cx="23774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309360" y="987552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1.57%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309360" y="153619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Absolute Error</a:t>
            </a:r>
            <a:endParaRPr lang="en-US" sz="1400" dirty="0">
              <a:solidFill>
                <a:srgbClr val="002060"/>
              </a:solidFill>
            </a:endParaRPr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3"/>
          <a:srcRect l="1984" b="14005"/>
          <a:stretch/>
        </p:blipFill>
        <p:spPr>
          <a:xfrm>
            <a:off x="457200" y="2196955"/>
            <a:ext cx="8229600" cy="247301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7303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Buy/Sell/Hold Signals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251165" y="626800"/>
            <a:ext cx="5007429" cy="45719"/>
          </a:xfrm>
          <a:prstGeom prst="rect">
            <a:avLst/>
          </a:prstGeom>
          <a:solidFill>
            <a:srgbClr val="EEC1D7"/>
          </a:solidFill>
          <a:ln w="12700">
            <a:noFill/>
            <a:prstDash val="solid"/>
          </a:ln>
        </p:spPr>
        <p:txBody>
          <a:bodyPr/>
          <a:lstStyle/>
          <a:p>
            <a:endParaRPr lang="en-US">
              <a:solidFill>
                <a:srgbClr val="EEC1D7"/>
              </a:solidFill>
            </a:endParaRPr>
          </a:p>
        </p:txBody>
      </p:sp>
      <p:sp>
        <p:nvSpPr>
          <p:cNvPr id="5" name="Shape 2"/>
          <p:cNvSpPr/>
          <p:nvPr/>
        </p:nvSpPr>
        <p:spPr>
          <a:xfrm>
            <a:off x="4754880" y="914400"/>
            <a:ext cx="393192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4937760" y="10058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Results (±0.5% threshold)</a:t>
            </a:r>
            <a:endParaRPr lang="en-US" sz="2000" dirty="0">
              <a:solidFill>
                <a:srgbClr val="002060"/>
              </a:solidFill>
            </a:endParaRPr>
          </a:p>
        </p:txBody>
      </p:sp>
      <p:sp>
        <p:nvSpPr>
          <p:cNvPr id="8" name="Shape 5"/>
          <p:cNvSpPr/>
          <p:nvPr/>
        </p:nvSpPr>
        <p:spPr>
          <a:xfrm>
            <a:off x="4846320" y="1417320"/>
            <a:ext cx="3749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937760" y="1527048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signals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126480" y="1527048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made</a:t>
            </a:r>
            <a:endParaRPr lang="en-US" sz="1400" dirty="0">
              <a:solidFill>
                <a:srgbClr val="002060"/>
              </a:solidFill>
            </a:endParaRPr>
          </a:p>
        </p:txBody>
      </p:sp>
      <p:sp>
        <p:nvSpPr>
          <p:cNvPr id="11" name="Text 8"/>
          <p:cNvSpPr/>
          <p:nvPr/>
        </p:nvSpPr>
        <p:spPr>
          <a:xfrm>
            <a:off x="7040880" y="1527048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correct</a:t>
            </a:r>
            <a:endParaRPr lang="en-US" sz="1400" dirty="0">
              <a:solidFill>
                <a:srgbClr val="002060"/>
              </a:solidFill>
            </a:endParaRPr>
          </a:p>
        </p:txBody>
      </p:sp>
      <p:sp>
        <p:nvSpPr>
          <p:cNvPr id="12" name="Text 9"/>
          <p:cNvSpPr/>
          <p:nvPr/>
        </p:nvSpPr>
        <p:spPr>
          <a:xfrm>
            <a:off x="7955280" y="1527048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846320" y="2075688"/>
            <a:ext cx="3749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937760" y="2185416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signals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126480" y="2185416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made</a:t>
            </a:r>
            <a:endParaRPr lang="en-US" sz="1400" dirty="0">
              <a:solidFill>
                <a:srgbClr val="002060"/>
              </a:solidFill>
            </a:endParaRPr>
          </a:p>
        </p:txBody>
      </p:sp>
      <p:sp>
        <p:nvSpPr>
          <p:cNvPr id="16" name="Text 13"/>
          <p:cNvSpPr/>
          <p:nvPr/>
        </p:nvSpPr>
        <p:spPr>
          <a:xfrm>
            <a:off x="7040880" y="2185416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correct</a:t>
            </a:r>
            <a:endParaRPr lang="en-US" sz="1400" dirty="0">
              <a:solidFill>
                <a:srgbClr val="002060"/>
              </a:solidFill>
            </a:endParaRPr>
          </a:p>
        </p:txBody>
      </p:sp>
      <p:sp>
        <p:nvSpPr>
          <p:cNvPr id="17" name="Text 14"/>
          <p:cNvSpPr/>
          <p:nvPr/>
        </p:nvSpPr>
        <p:spPr>
          <a:xfrm>
            <a:off x="7955280" y="2185416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846320" y="2734056"/>
            <a:ext cx="3749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937760" y="2843784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signals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126480" y="2843784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made</a:t>
            </a:r>
            <a:endParaRPr lang="en-US" sz="1400" dirty="0">
              <a:solidFill>
                <a:srgbClr val="002060"/>
              </a:solidFill>
            </a:endParaRPr>
          </a:p>
        </p:txBody>
      </p:sp>
      <p:sp>
        <p:nvSpPr>
          <p:cNvPr id="21" name="Text 18"/>
          <p:cNvSpPr/>
          <p:nvPr/>
        </p:nvSpPr>
        <p:spPr>
          <a:xfrm>
            <a:off x="7040880" y="2843784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correct</a:t>
            </a:r>
            <a:endParaRPr lang="en-US" sz="1400" dirty="0">
              <a:solidFill>
                <a:srgbClr val="002060"/>
              </a:solidFill>
            </a:endParaRPr>
          </a:p>
        </p:txBody>
      </p:sp>
      <p:sp>
        <p:nvSpPr>
          <p:cNvPr id="22" name="Text 19"/>
          <p:cNvSpPr/>
          <p:nvPr/>
        </p:nvSpPr>
        <p:spPr>
          <a:xfrm>
            <a:off x="7955280" y="2843784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846320" y="3392424"/>
            <a:ext cx="3749040" cy="566928"/>
          </a:xfrm>
          <a:prstGeom prst="rect">
            <a:avLst/>
          </a:prstGeom>
          <a:solidFill>
            <a:srgbClr val="EEC1D7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4937760" y="350215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100" dirty="0">
              <a:solidFill>
                <a:srgbClr val="002060"/>
              </a:solidFill>
            </a:endParaRPr>
          </a:p>
        </p:txBody>
      </p:sp>
      <p:sp>
        <p:nvSpPr>
          <p:cNvPr id="25" name="Text 22"/>
          <p:cNvSpPr/>
          <p:nvPr/>
        </p:nvSpPr>
        <p:spPr>
          <a:xfrm>
            <a:off x="6126480" y="3502152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test</a:t>
            </a:r>
            <a:endParaRPr lang="en-US" sz="1100" dirty="0">
              <a:solidFill>
                <a:srgbClr val="002060"/>
              </a:solidFill>
            </a:endParaRPr>
          </a:p>
        </p:txBody>
      </p:sp>
      <p:sp>
        <p:nvSpPr>
          <p:cNvPr id="26" name="Text 23"/>
          <p:cNvSpPr/>
          <p:nvPr/>
        </p:nvSpPr>
        <p:spPr>
          <a:xfrm>
            <a:off x="7040880" y="3502152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correct</a:t>
            </a:r>
            <a:endParaRPr lang="en-US" sz="1100" dirty="0">
              <a:solidFill>
                <a:srgbClr val="002060"/>
              </a:solidFill>
            </a:endParaRPr>
          </a:p>
        </p:txBody>
      </p:sp>
      <p:sp>
        <p:nvSpPr>
          <p:cNvPr id="27" name="Text 24"/>
          <p:cNvSpPr/>
          <p:nvPr/>
        </p:nvSpPr>
        <p:spPr>
          <a:xfrm>
            <a:off x="7955280" y="3502152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cs typeface="Calibri" pitchFamily="34" charset="-120"/>
              </a:rPr>
              <a:t>83%</a:t>
            </a:r>
          </a:p>
        </p:txBody>
      </p:sp>
      <p:sp>
        <p:nvSpPr>
          <p:cNvPr id="28" name="Text 25"/>
          <p:cNvSpPr/>
          <p:nvPr/>
        </p:nvSpPr>
        <p:spPr>
          <a:xfrm>
            <a:off x="4800600" y="43338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±0.5% threshold the model beats random (50%) across all signal types</a:t>
            </a:r>
            <a:endParaRPr lang="en-US" sz="1600" dirty="0">
              <a:solidFill>
                <a:srgbClr val="002060"/>
              </a:solidFill>
            </a:endParaRPr>
          </a:p>
        </p:txBody>
      </p:sp>
      <p:pic>
        <p:nvPicPr>
          <p:cNvPr id="29" name="Picture 28" descr="A screenshot of a chart&#10;&#10;AI-generated content may be incorrect.">
            <a:extLst>
              <a:ext uri="{FF2B5EF4-FFF2-40B4-BE49-F238E27FC236}">
                <a16:creationId xmlns:a16="http://schemas.microsoft.com/office/drawing/2014/main" id="{2BF357FF-DDAF-6DB1-8284-BB53D81F96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31516"/>
            <a:ext cx="3785388" cy="37680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C1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3200" dirty="0">
              <a:solidFill>
                <a:srgbClr val="002060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1687284" y="799665"/>
            <a:ext cx="5522976" cy="27432"/>
          </a:xfrm>
          <a:prstGeom prst="rect">
            <a:avLst/>
          </a:prstGeom>
          <a:solidFill>
            <a:srgbClr val="AFD3EA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>
              <a:solidFill>
                <a:srgbClr val="002060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1005840" y="105156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it work?</a:t>
            </a:r>
            <a:endParaRPr lang="en-US" sz="1400" dirty="0">
              <a:solidFill>
                <a:srgbClr val="00206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1005840" y="1389888"/>
            <a:ext cx="7498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Partially — best run achieved 83% signal accuracy using gradual unfreezing, but results varied significantly (45–83%) across runs due to the small dataset (29 test samples). The random train/test split has a large impact when n is this small. Gradual unfreezing was the key technical contribution — without it the model predicted near-zero for everything.</a:t>
            </a:r>
            <a:endParaRPr lang="en-US" sz="1200" dirty="0">
              <a:solidFill>
                <a:srgbClr val="002060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000" dirty="0">
              <a:solidFill>
                <a:srgbClr val="002060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1005840" y="228600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I'd do differently — more data</a:t>
            </a:r>
            <a:endParaRPr lang="en-US" sz="1400" dirty="0">
              <a:solidFill>
                <a:srgbClr val="002060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1005840" y="2624328"/>
            <a:ext cx="7498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accidentally saved 74 empty API error responses before adding a validity check, losing several days of collection. I only ended up with 148 transcripts. More data would significantly improve the model — I would need to scrape SEC EDGAR transcripts (thousands of transcripts, free) and retrain. I may do this, this summer because I was disappointed in the lack of data </a:t>
            </a:r>
            <a:endParaRPr lang="en-US" sz="1200" dirty="0">
              <a:solidFill>
                <a:srgbClr val="002060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457200" y="3520440"/>
            <a:ext cx="45720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>
              <a:solidFill>
                <a:srgbClr val="002060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1005840" y="352044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400" dirty="0">
              <a:solidFill>
                <a:srgbClr val="002060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05840" y="3858768"/>
            <a:ext cx="7498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thousands of transcripts via EDGAR scraping and potentially build a live web interface that generates buy/sell/hold signals as earnings calls happen, if I was able to purchase access to a live API. </a:t>
            </a:r>
            <a:endParaRPr lang="en-US" sz="12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678</TotalTime>
  <Words>890</Words>
  <Application>Microsoft Macintosh PowerPoint</Application>
  <PresentationFormat>On-screen Show (16:9)</PresentationFormat>
  <Paragraphs>107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Stock Returns from Earnings Call Transcripts</dc:title>
  <dc:subject>PptxGenJS Presentation</dc:subject>
  <dc:creator>Shannon Maccallum</dc:creator>
  <cp:lastModifiedBy>Shannon MacCallum</cp:lastModifiedBy>
  <cp:revision>5</cp:revision>
  <dcterms:created xsi:type="dcterms:W3CDTF">2026-06-07T21:53:22Z</dcterms:created>
  <dcterms:modified xsi:type="dcterms:W3CDTF">2026-06-09T00:23:42Z</dcterms:modified>
</cp:coreProperties>
</file>